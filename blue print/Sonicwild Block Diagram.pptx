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402" r:id="rId2"/>
    <p:sldId id="326" r:id="rId3"/>
    <p:sldId id="355" r:id="rId4"/>
    <p:sldId id="356" r:id="rId5"/>
    <p:sldId id="35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331973-76C7-4E2F-B455-5D14064EE5C3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24EE11-8DC3-4FF7-BE23-2C74FEB6A0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16252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A9C12-97C7-B1B8-4F53-B3F83290D9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13E211-9DEB-E85E-19A7-2427F549BD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2BAFC5-E7AC-0C0A-E5BB-DD3701232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9CDE1-B04B-4C2D-838A-2208D8E8D8E0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0D6561-B445-5FFE-D821-26C765E42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F3CF73-BC83-3745-1067-24D1FE98D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0B89E-D78D-4A60-8339-476615791B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76624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7D85D-6C6F-3B56-3086-7205EA4EE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D91ECC-F3B9-AD51-8626-9783FBDD6D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713C20-40B5-E4CD-1660-4BF394520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9CDE1-B04B-4C2D-838A-2208D8E8D8E0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42D86-C366-463C-E35C-35B02009F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B39DF-4B43-7866-9EBB-F2FB47970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0B89E-D78D-4A60-8339-476615791B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28477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4ABDC-D13B-FD52-C0BD-D3F8EC8AB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141300-C30C-FC4E-E392-196D378097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82C679-521F-E37C-53B4-9D903DF83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9CDE1-B04B-4C2D-838A-2208D8E8D8E0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097F57-7A99-7154-FA01-200F43AB4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8270C6-D68F-0FE3-B4A4-D7B4B4E2E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0B89E-D78D-4A60-8339-476615791B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958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6628C-903E-A0A4-E9BC-B888801CE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4F521A-C357-9762-54BC-759890DC85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EE7BE8-416A-DB21-BFCD-E62665F7B2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99F351-9685-CB1B-25E7-BC392F760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9CDE1-B04B-4C2D-838A-2208D8E8D8E0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60AEFD-7692-6A22-24FC-9789D5AF2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E598D9-5296-E1AB-2D16-1D50C42FF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0B89E-D78D-4A60-8339-476615791B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3925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DAAF0-4B67-32D0-84BA-8E8591376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6B58DD-E46E-88EA-9778-6051CD60EE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4F654C-1AFB-64AD-0E89-F6B636D67B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4A20B0-7844-F533-50EA-C41DB1565F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6A3EBE-7440-04AA-CE87-EECC0142F1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56EA6D-5AC8-ED90-1C4F-C51E4C4C1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9CDE1-B04B-4C2D-838A-2208D8E8D8E0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CF4BBA-E823-BBB9-A0D7-60A296D17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8C925-F032-0F70-1360-B1934E9F7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0B89E-D78D-4A60-8339-476615791B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0742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042F2-4273-B436-776A-9874BF7C1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E0E377-CF77-8BDF-DC7D-95A5AC371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9CDE1-B04B-4C2D-838A-2208D8E8D8E0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2E4CE5-2887-38AF-1D94-A44776D08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09BBE1-8EE9-F8FC-A6EF-B879538E3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0B89E-D78D-4A60-8339-476615791B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21844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776A9E-4C6A-2B7B-87F0-9C994A88D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9CDE1-B04B-4C2D-838A-2208D8E8D8E0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2A21C1-2D23-3A44-6481-0E4F7B3E3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C9CC31-41AD-B6DC-B220-110092A85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0B89E-D78D-4A60-8339-476615791B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9470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78F66-FAA4-526F-6880-3D1691DCB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8F6AA0-2995-36F9-DCF0-8085B26D86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47F071-81D8-4E19-E0AC-CEEDA8B93D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E2192D-EAAF-84CE-4B26-762180B9D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9CDE1-B04B-4C2D-838A-2208D8E8D8E0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957E26-C0E3-A3B2-0481-35382EFC0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202763-4EEA-1A9F-2567-096DC5D9C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0B89E-D78D-4A60-8339-476615791B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8535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EAAB2-674D-3C8B-DE25-A2D37A101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07F540-0183-FCE0-DA93-A121F64A28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43FCC1-A888-0900-AFB0-419B8EA2C9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645E52-EB57-FE68-91D6-322DF524F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9CDE1-B04B-4C2D-838A-2208D8E8D8E0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9EA285-E5B7-E80E-0DB5-E09E31C6C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25B17D-4071-8F64-5B8C-2B97600C0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0B89E-D78D-4A60-8339-476615791B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5858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6C921-0E83-E26E-FFAA-5E1E66B51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2B886A-1E4F-CDAA-7E18-BCED3A21BF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6E4CB-AEB0-BCFA-0C76-9B74AD3BC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9CDE1-B04B-4C2D-838A-2208D8E8D8E0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6E71E9-1C12-3B4D-FC77-75C819420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8CC48-3E10-5E82-B6B0-0D4EFB114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0B89E-D78D-4A60-8339-476615791B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91672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60A21D-FE0E-3206-7312-F4D76EAC78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6CEB10-13F7-3562-BC59-A870BF521E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E49B59-47A0-CE4F-08BC-6B9F1664E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9CDE1-B04B-4C2D-838A-2208D8E8D8E0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CF2A92-7E61-CDE9-76C1-201B49543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B201AD-9963-C9E2-E636-E70D8C77B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0B89E-D78D-4A60-8339-476615791B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0279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9391A4-9659-2B05-6FCC-FDE1D6D87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C3EDA9-2D46-DF3E-5915-EEE49D1C92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DAA88E-A8D8-24B8-72A7-66E90C5688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29CDE1-B04B-4C2D-838A-2208D8E8D8E0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8153A0-D860-95B5-C184-97B396E897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78D71E-DD89-10B7-E5DF-3ABDE1787A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20B89E-D78D-4A60-8339-476615791B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2719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98362-F05E-5680-04C7-0825F68E1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FDD3C0E-00F8-1BAE-87B6-9DF9DC20FDBF}"/>
              </a:ext>
            </a:extLst>
          </p:cNvPr>
          <p:cNvSpPr txBox="1"/>
          <p:nvPr/>
        </p:nvSpPr>
        <p:spPr>
          <a:xfrm>
            <a:off x="2661920" y="2497976"/>
            <a:ext cx="7396480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500" b="1" dirty="0"/>
              <a:t>MIC ARRAY</a:t>
            </a:r>
          </a:p>
        </p:txBody>
      </p:sp>
    </p:spTree>
    <p:extLst>
      <p:ext uri="{BB962C8B-B14F-4D97-AF65-F5344CB8AC3E}">
        <p14:creationId xmlns:p14="http://schemas.microsoft.com/office/powerpoint/2010/main" val="17252264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computer network&#10;&#10;AI-generated content may be incorrect.">
            <a:extLst>
              <a:ext uri="{FF2B5EF4-FFF2-40B4-BE49-F238E27FC236}">
                <a16:creationId xmlns:a16="http://schemas.microsoft.com/office/drawing/2014/main" id="{79D39764-0445-E660-2DCB-1A22FF2C66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681" y="911518"/>
            <a:ext cx="8042182" cy="5616427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849B0DC-1F34-39D1-DB18-F7F39167A69D}"/>
              </a:ext>
            </a:extLst>
          </p:cNvPr>
          <p:cNvCxnSpPr>
            <a:cxnSpLocks/>
          </p:cNvCxnSpPr>
          <p:nvPr/>
        </p:nvCxnSpPr>
        <p:spPr>
          <a:xfrm>
            <a:off x="175846" y="4132971"/>
            <a:ext cx="1171135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D2B4CD7-A0DE-B95C-6589-E3614BC258F1}"/>
              </a:ext>
            </a:extLst>
          </p:cNvPr>
          <p:cNvCxnSpPr>
            <a:cxnSpLocks/>
          </p:cNvCxnSpPr>
          <p:nvPr/>
        </p:nvCxnSpPr>
        <p:spPr>
          <a:xfrm>
            <a:off x="8255977" y="911518"/>
            <a:ext cx="131886" cy="60789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A1635B1-FB64-DD7A-32F9-3BD7CF00FA98}"/>
              </a:ext>
            </a:extLst>
          </p:cNvPr>
          <p:cNvSpPr/>
          <p:nvPr/>
        </p:nvSpPr>
        <p:spPr>
          <a:xfrm>
            <a:off x="993532" y="758583"/>
            <a:ext cx="6096000" cy="363952"/>
          </a:xfrm>
          <a:prstGeom prst="roundRect">
            <a:avLst/>
          </a:prstGeom>
          <a:solidFill>
            <a:schemeClr val="bg1"/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HW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CF2B7CF-8CD2-4B26-DCCA-2ECFE637F1C7}"/>
              </a:ext>
            </a:extLst>
          </p:cNvPr>
          <p:cNvSpPr/>
          <p:nvPr/>
        </p:nvSpPr>
        <p:spPr>
          <a:xfrm>
            <a:off x="9165664" y="633732"/>
            <a:ext cx="2167619" cy="363952"/>
          </a:xfrm>
          <a:prstGeom prst="roundRect">
            <a:avLst/>
          </a:prstGeom>
          <a:solidFill>
            <a:schemeClr val="bg1"/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SW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16B1C26-5B73-0B15-DC4B-C3CC90AD98AE}"/>
              </a:ext>
            </a:extLst>
          </p:cNvPr>
          <p:cNvSpPr txBox="1"/>
          <p:nvPr/>
        </p:nvSpPr>
        <p:spPr>
          <a:xfrm>
            <a:off x="8387863" y="1088672"/>
            <a:ext cx="366917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IN" dirty="0"/>
              <a:t>Z_ODAS  - C code for direction calculation and other audio processing </a:t>
            </a:r>
          </a:p>
          <a:p>
            <a:pPr marL="342900" indent="-342900">
              <a:buAutoNum type="arabicPeriod"/>
            </a:pPr>
            <a:r>
              <a:rPr lang="en-IN" dirty="0"/>
              <a:t>Python code for updating settings, manage audio streaming, interacting with front end requests, mounting and managing drives</a:t>
            </a:r>
          </a:p>
          <a:p>
            <a:pPr marL="342900" indent="-342900">
              <a:buAutoNum type="arabicPeriod"/>
            </a:pPr>
            <a:r>
              <a:rPr lang="en-IN" dirty="0" err="1"/>
              <a:t>Tflite</a:t>
            </a:r>
            <a:r>
              <a:rPr lang="en-IN" dirty="0"/>
              <a:t> models and libraries for C integration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5EB9889-528C-9DCA-703A-5986F1F26D7A}"/>
              </a:ext>
            </a:extLst>
          </p:cNvPr>
          <p:cNvSpPr txBox="1"/>
          <p:nvPr/>
        </p:nvSpPr>
        <p:spPr>
          <a:xfrm>
            <a:off x="8752426" y="4638391"/>
            <a:ext cx="29940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IN" dirty="0"/>
              <a:t>Front end visualizer and device manager in Node JS + React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1631615-26F8-8252-C675-ABF4319E7235}"/>
              </a:ext>
            </a:extLst>
          </p:cNvPr>
          <p:cNvSpPr/>
          <p:nvPr/>
        </p:nvSpPr>
        <p:spPr>
          <a:xfrm>
            <a:off x="175846" y="1122535"/>
            <a:ext cx="949569" cy="363952"/>
          </a:xfrm>
          <a:prstGeom prst="roundRect">
            <a:avLst/>
          </a:prstGeom>
          <a:solidFill>
            <a:schemeClr val="bg1"/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Device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36D5A69-A51A-F712-75D1-5971E98E897D}"/>
              </a:ext>
            </a:extLst>
          </p:cNvPr>
          <p:cNvSpPr/>
          <p:nvPr/>
        </p:nvSpPr>
        <p:spPr>
          <a:xfrm>
            <a:off x="345681" y="6416702"/>
            <a:ext cx="949569" cy="363952"/>
          </a:xfrm>
          <a:prstGeom prst="roundRect">
            <a:avLst/>
          </a:prstGeom>
          <a:solidFill>
            <a:schemeClr val="bg1"/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User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3AF1107-CC7F-DFA3-BBE6-349E95868F8D}"/>
              </a:ext>
            </a:extLst>
          </p:cNvPr>
          <p:cNvSpPr txBox="1"/>
          <p:nvPr/>
        </p:nvSpPr>
        <p:spPr>
          <a:xfrm>
            <a:off x="137574" y="168436"/>
            <a:ext cx="59584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0070C0"/>
                </a:solidFill>
              </a:rPr>
              <a:t>Overview of HW and SW…</a:t>
            </a:r>
          </a:p>
        </p:txBody>
      </p:sp>
    </p:spTree>
    <p:extLst>
      <p:ext uri="{BB962C8B-B14F-4D97-AF65-F5344CB8AC3E}">
        <p14:creationId xmlns:p14="http://schemas.microsoft.com/office/powerpoint/2010/main" val="12243109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0833C-6728-07A6-8CED-845A7A8E1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computer network&#10;&#10;AI-generated content may be incorrect.">
            <a:extLst>
              <a:ext uri="{FF2B5EF4-FFF2-40B4-BE49-F238E27FC236}">
                <a16:creationId xmlns:a16="http://schemas.microsoft.com/office/drawing/2014/main" id="{866E4DDF-8C54-B1C2-9DD5-D8C3BA1A22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77" r="9548" b="43509"/>
          <a:stretch>
            <a:fillRect/>
          </a:stretch>
        </p:blipFill>
        <p:spPr>
          <a:xfrm>
            <a:off x="8679766" y="168436"/>
            <a:ext cx="3248074" cy="1502697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13EF0D0-934D-9959-C9A3-B042BADE0040}"/>
              </a:ext>
            </a:extLst>
          </p:cNvPr>
          <p:cNvSpPr/>
          <p:nvPr/>
        </p:nvSpPr>
        <p:spPr>
          <a:xfrm>
            <a:off x="993532" y="596023"/>
            <a:ext cx="6096000" cy="277737"/>
          </a:xfrm>
          <a:prstGeom prst="roundRect">
            <a:avLst/>
          </a:prstGeom>
          <a:solidFill>
            <a:schemeClr val="bg1"/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HW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88D4EA5-DBB2-D5F5-2032-195FF6B028E2}"/>
              </a:ext>
            </a:extLst>
          </p:cNvPr>
          <p:cNvSpPr/>
          <p:nvPr/>
        </p:nvSpPr>
        <p:spPr>
          <a:xfrm>
            <a:off x="175846" y="1122535"/>
            <a:ext cx="949569" cy="363952"/>
          </a:xfrm>
          <a:prstGeom prst="roundRect">
            <a:avLst/>
          </a:prstGeom>
          <a:solidFill>
            <a:schemeClr val="bg1"/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Device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08933F-9054-9CCD-4F64-CF04011AD3AB}"/>
              </a:ext>
            </a:extLst>
          </p:cNvPr>
          <p:cNvSpPr txBox="1"/>
          <p:nvPr/>
        </p:nvSpPr>
        <p:spPr>
          <a:xfrm>
            <a:off x="137574" y="168436"/>
            <a:ext cx="59584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0070C0"/>
                </a:solidFill>
              </a:rPr>
              <a:t>Overview of HW and SW…</a:t>
            </a:r>
          </a:p>
        </p:txBody>
      </p:sp>
      <p:pic>
        <p:nvPicPr>
          <p:cNvPr id="2" name="Picture 1" descr="A diagram of a computer network&#10;&#10;AI-generated content may be incorrect.">
            <a:extLst>
              <a:ext uri="{FF2B5EF4-FFF2-40B4-BE49-F238E27FC236}">
                <a16:creationId xmlns:a16="http://schemas.microsoft.com/office/drawing/2014/main" id="{65662B4E-1AB1-35D7-B020-21ED638E3BB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77" r="9548" b="43509"/>
          <a:stretch>
            <a:fillRect/>
          </a:stretch>
        </p:blipFill>
        <p:spPr>
          <a:xfrm>
            <a:off x="8832166" y="320836"/>
            <a:ext cx="3248074" cy="1502697"/>
          </a:xfrm>
          <a:prstGeom prst="rect">
            <a:avLst/>
          </a:prstGeom>
        </p:spPr>
      </p:pic>
      <p:pic>
        <p:nvPicPr>
          <p:cNvPr id="4" name="Picture 3" descr="A diagram of a computer network&#10;&#10;AI-generated content may be incorrect.">
            <a:extLst>
              <a:ext uri="{FF2B5EF4-FFF2-40B4-BE49-F238E27FC236}">
                <a16:creationId xmlns:a16="http://schemas.microsoft.com/office/drawing/2014/main" id="{CB42C5C7-12ED-DF43-AD64-8222B39C179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1370" t="12693" r="41154" b="43509"/>
          <a:stretch>
            <a:fillRect/>
          </a:stretch>
        </p:blipFill>
        <p:spPr>
          <a:xfrm rot="16200000">
            <a:off x="2210971" y="-1184812"/>
            <a:ext cx="5831839" cy="1025378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5DDCC75-CACC-8D5C-5AD7-E693C7D27627}"/>
              </a:ext>
            </a:extLst>
          </p:cNvPr>
          <p:cNvSpPr/>
          <p:nvPr/>
        </p:nvSpPr>
        <p:spPr>
          <a:xfrm>
            <a:off x="4811931" y="2091109"/>
            <a:ext cx="4236720" cy="37407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~/</a:t>
            </a:r>
            <a:r>
              <a:rPr lang="en-IN" b="1" dirty="0" err="1"/>
              <a:t>z_odas</a:t>
            </a:r>
            <a:r>
              <a:rPr lang="en-IN" b="1" dirty="0"/>
              <a:t>/  </a:t>
            </a:r>
          </a:p>
          <a:p>
            <a:pPr algn="ctr"/>
            <a:r>
              <a:rPr lang="en-IN" b="1" dirty="0"/>
              <a:t>~/</a:t>
            </a:r>
            <a:r>
              <a:rPr lang="en-IN" b="1" dirty="0" err="1"/>
              <a:t>audio_stream</a:t>
            </a:r>
            <a:endParaRPr lang="en-IN" sz="1200" b="1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algn="ctr"/>
            <a:r>
              <a:rPr lang="en-IN" sz="12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(file_chatak_audio_stream.py)</a:t>
            </a:r>
          </a:p>
          <a:p>
            <a:pPr algn="ctr"/>
            <a:r>
              <a:rPr lang="en-IN" sz="12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(chatak_audio_stream.py)</a:t>
            </a:r>
          </a:p>
          <a:p>
            <a:pPr algn="ctr"/>
            <a:endParaRPr lang="en-IN" sz="1200" b="1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algn="ctr"/>
            <a:r>
              <a:rPr lang="en-IN" b="1" dirty="0"/>
              <a:t>~/</a:t>
            </a:r>
            <a:r>
              <a:rPr lang="en-IN" b="1" dirty="0" err="1"/>
              <a:t>ChatakGUI</a:t>
            </a:r>
            <a:r>
              <a:rPr lang="en-IN" b="1" dirty="0"/>
              <a:t>/config/</a:t>
            </a:r>
          </a:p>
          <a:p>
            <a:pPr algn="ctr"/>
            <a:r>
              <a:rPr lang="en-IN" b="1" dirty="0"/>
              <a:t>~/</a:t>
            </a:r>
            <a:r>
              <a:rPr lang="en-IN" b="1" dirty="0" err="1"/>
              <a:t>ChatakGUI</a:t>
            </a:r>
            <a:r>
              <a:rPr lang="en-IN" b="1" dirty="0"/>
              <a:t>/</a:t>
            </a:r>
          </a:p>
          <a:p>
            <a:pPr algn="ctr"/>
            <a:r>
              <a:rPr lang="en-IN" sz="11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(update_ip.py)</a:t>
            </a:r>
          </a:p>
          <a:p>
            <a:pPr algn="ctr"/>
            <a:r>
              <a:rPr lang="en-IN" sz="11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(update_bandpass.py)</a:t>
            </a:r>
          </a:p>
          <a:p>
            <a:pPr algn="ctr"/>
            <a:r>
              <a:rPr lang="en-IN" sz="12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(update_settings.py)</a:t>
            </a:r>
          </a:p>
          <a:p>
            <a:pPr algn="ctr"/>
            <a:r>
              <a:rPr lang="en-IN" sz="12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(update_filePath.py)</a:t>
            </a:r>
          </a:p>
          <a:p>
            <a:pPr algn="ctr"/>
            <a:r>
              <a:rPr lang="en-IN" sz="12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(record.py)</a:t>
            </a:r>
          </a:p>
          <a:p>
            <a:pPr algn="ctr"/>
            <a:r>
              <a:rPr lang="en-IN" sz="12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(odas_manager.py)</a:t>
            </a:r>
            <a:endParaRPr lang="en-IN" b="1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algn="ctr"/>
            <a:r>
              <a:rPr lang="en-IN" b="1" dirty="0"/>
              <a:t>~/</a:t>
            </a:r>
            <a:r>
              <a:rPr lang="en-IN" b="1" dirty="0" err="1"/>
              <a:t>odas</a:t>
            </a:r>
            <a:r>
              <a:rPr lang="en-IN" b="1" dirty="0"/>
              <a:t>/bin/build/config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F9C8BCA-E8BC-9D2E-B4BC-621B91A4562A}"/>
              </a:ext>
            </a:extLst>
          </p:cNvPr>
          <p:cNvSpPr/>
          <p:nvPr/>
        </p:nvSpPr>
        <p:spPr>
          <a:xfrm>
            <a:off x="1938218" y="2297008"/>
            <a:ext cx="2651761" cy="9778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/>
              <a:t>FlashDrive</a:t>
            </a:r>
            <a:r>
              <a:rPr lang="en-IN" dirty="0"/>
              <a:t>:</a:t>
            </a:r>
          </a:p>
          <a:p>
            <a:pPr algn="ctr"/>
            <a:r>
              <a:rPr lang="en-IN" dirty="0"/>
              <a:t>/</a:t>
            </a:r>
            <a:r>
              <a:rPr lang="en-IN" dirty="0" err="1"/>
              <a:t>mnt</a:t>
            </a:r>
            <a:r>
              <a:rPr lang="en-IN" dirty="0"/>
              <a:t>/CHATAK_VM</a:t>
            </a:r>
          </a:p>
          <a:p>
            <a:pPr algn="ctr"/>
            <a:r>
              <a:rPr lang="en-IN" sz="14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(cors_https_server.py)</a:t>
            </a:r>
            <a:endParaRPr lang="en-IN" b="1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31601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176E4-B4B0-A203-41FD-A8EF2A3F6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A7AA3DBB-D765-DCBB-E0DC-F703E338D78B}"/>
              </a:ext>
            </a:extLst>
          </p:cNvPr>
          <p:cNvSpPr txBox="1"/>
          <p:nvPr/>
        </p:nvSpPr>
        <p:spPr>
          <a:xfrm>
            <a:off x="137574" y="168436"/>
            <a:ext cx="59584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0070C0"/>
                </a:solidFill>
              </a:rPr>
              <a:t>Overview of HW and SW…</a:t>
            </a:r>
          </a:p>
        </p:txBody>
      </p:sp>
      <p:pic>
        <p:nvPicPr>
          <p:cNvPr id="4" name="Picture 3" descr="A diagram of a computer network&#10;&#10;AI-generated content may be incorrect.">
            <a:extLst>
              <a:ext uri="{FF2B5EF4-FFF2-40B4-BE49-F238E27FC236}">
                <a16:creationId xmlns:a16="http://schemas.microsoft.com/office/drawing/2014/main" id="{8EEA246F-7530-35A1-D070-927CEE5D2F4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1370" t="19686" r="41154" b="46963"/>
          <a:stretch>
            <a:fillRect/>
          </a:stretch>
        </p:blipFill>
        <p:spPr>
          <a:xfrm rot="16200000">
            <a:off x="7385878" y="2005359"/>
            <a:ext cx="4125850" cy="524255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960AAAC-3BEA-AD74-FCB6-F21B81272C48}"/>
              </a:ext>
            </a:extLst>
          </p:cNvPr>
          <p:cNvSpPr/>
          <p:nvPr/>
        </p:nvSpPr>
        <p:spPr>
          <a:xfrm>
            <a:off x="7335548" y="4543871"/>
            <a:ext cx="1617782" cy="54779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ODAS</a:t>
            </a:r>
          </a:p>
        </p:txBody>
      </p:sp>
      <p:pic>
        <p:nvPicPr>
          <p:cNvPr id="7" name="Picture 6" descr="A diagram of a computer network&#10;&#10;AI-generated content may be incorrect.">
            <a:extLst>
              <a:ext uri="{FF2B5EF4-FFF2-40B4-BE49-F238E27FC236}">
                <a16:creationId xmlns:a16="http://schemas.microsoft.com/office/drawing/2014/main" id="{6C11C8F2-3797-BDA8-3DA2-AAA81A9721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33" t="11694" r="65944" b="62469"/>
          <a:stretch>
            <a:fillRect/>
          </a:stretch>
        </p:blipFill>
        <p:spPr>
          <a:xfrm rot="5400000">
            <a:off x="7310889" y="617529"/>
            <a:ext cx="2092235" cy="237434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7098743-3A7C-32C1-060A-C18AB474E233}"/>
              </a:ext>
            </a:extLst>
          </p:cNvPr>
          <p:cNvSpPr/>
          <p:nvPr/>
        </p:nvSpPr>
        <p:spPr>
          <a:xfrm>
            <a:off x="7335548" y="3491952"/>
            <a:ext cx="1617782" cy="54779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Pulse Audio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1ACE3A2-0F0F-E349-347B-72BF9CA55AA7}"/>
              </a:ext>
            </a:extLst>
          </p:cNvPr>
          <p:cNvCxnSpPr>
            <a:cxnSpLocks/>
          </p:cNvCxnSpPr>
          <p:nvPr/>
        </p:nvCxnSpPr>
        <p:spPr>
          <a:xfrm>
            <a:off x="7653412" y="4039744"/>
            <a:ext cx="0" cy="410336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955B1D52-7329-B989-C764-A0E152FCAB60}"/>
              </a:ext>
            </a:extLst>
          </p:cNvPr>
          <p:cNvSpPr txBox="1"/>
          <p:nvPr/>
        </p:nvSpPr>
        <p:spPr>
          <a:xfrm>
            <a:off x="7766158" y="4133535"/>
            <a:ext cx="2374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pcm : “multi_capture)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791AD56-E09F-24A7-A9E1-87D59F8DFEAF}"/>
              </a:ext>
            </a:extLst>
          </p:cNvPr>
          <p:cNvCxnSpPr>
            <a:cxnSpLocks/>
          </p:cNvCxnSpPr>
          <p:nvPr/>
        </p:nvCxnSpPr>
        <p:spPr>
          <a:xfrm flipH="1">
            <a:off x="9015045" y="4744446"/>
            <a:ext cx="1125457" cy="0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6CEA285D-F0BA-CFA1-6E36-78263B9BF6FE}"/>
              </a:ext>
            </a:extLst>
          </p:cNvPr>
          <p:cNvSpPr txBox="1"/>
          <p:nvPr/>
        </p:nvSpPr>
        <p:spPr>
          <a:xfrm>
            <a:off x="10253247" y="4502867"/>
            <a:ext cx="565892" cy="3693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file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DA8EB46-9848-4B55-6D59-0E45EF18F1E5}"/>
              </a:ext>
            </a:extLst>
          </p:cNvPr>
          <p:cNvCxnSpPr>
            <a:cxnSpLocks/>
          </p:cNvCxnSpPr>
          <p:nvPr/>
        </p:nvCxnSpPr>
        <p:spPr>
          <a:xfrm flipH="1">
            <a:off x="9015045" y="5091663"/>
            <a:ext cx="1125457" cy="0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8EA607C4-E0A3-E761-02A8-7D23F50678BE}"/>
              </a:ext>
            </a:extLst>
          </p:cNvPr>
          <p:cNvSpPr txBox="1"/>
          <p:nvPr/>
        </p:nvSpPr>
        <p:spPr>
          <a:xfrm>
            <a:off x="10253246" y="4906999"/>
            <a:ext cx="1009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socket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F64D1FE-82A2-41BF-7F43-05FBCF6D2928}"/>
              </a:ext>
            </a:extLst>
          </p:cNvPr>
          <p:cNvSpPr/>
          <p:nvPr/>
        </p:nvSpPr>
        <p:spPr>
          <a:xfrm>
            <a:off x="7335548" y="5551625"/>
            <a:ext cx="1617782" cy="54779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 err="1">
                <a:solidFill>
                  <a:schemeClr val="tx1"/>
                </a:solidFill>
              </a:rPr>
              <a:t>Yamnet</a:t>
            </a:r>
            <a:endParaRPr lang="en-IN" b="1" dirty="0">
              <a:solidFill>
                <a:schemeClr val="tx1"/>
              </a:solidFill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2751B8D-EFC7-4050-E629-64D682F31BB9}"/>
              </a:ext>
            </a:extLst>
          </p:cNvPr>
          <p:cNvCxnSpPr/>
          <p:nvPr/>
        </p:nvCxnSpPr>
        <p:spPr>
          <a:xfrm>
            <a:off x="7622932" y="5091663"/>
            <a:ext cx="0" cy="592125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034DF54-ADEE-3DAF-1B23-72EBD47FB45C}"/>
              </a:ext>
            </a:extLst>
          </p:cNvPr>
          <p:cNvCxnSpPr>
            <a:cxnSpLocks/>
          </p:cNvCxnSpPr>
          <p:nvPr/>
        </p:nvCxnSpPr>
        <p:spPr>
          <a:xfrm flipV="1">
            <a:off x="8693454" y="4936050"/>
            <a:ext cx="0" cy="570352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89EBE69-295C-4F79-5DC1-13E121ED079B}"/>
              </a:ext>
            </a:extLst>
          </p:cNvPr>
          <p:cNvCxnSpPr>
            <a:cxnSpLocks/>
          </p:cNvCxnSpPr>
          <p:nvPr/>
        </p:nvCxnSpPr>
        <p:spPr>
          <a:xfrm flipH="1" flipV="1">
            <a:off x="4632960" y="4872194"/>
            <a:ext cx="2702588" cy="9131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FA472202-D65A-FBD5-9DF0-43C43B4B3C95}"/>
              </a:ext>
            </a:extLst>
          </p:cNvPr>
          <p:cNvSpPr txBox="1"/>
          <p:nvPr/>
        </p:nvSpPr>
        <p:spPr>
          <a:xfrm>
            <a:off x="5972101" y="4375114"/>
            <a:ext cx="1009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socket</a:t>
            </a:r>
          </a:p>
        </p:txBody>
      </p:sp>
      <p:sp>
        <p:nvSpPr>
          <p:cNvPr id="37" name="Right Brace 36">
            <a:extLst>
              <a:ext uri="{FF2B5EF4-FFF2-40B4-BE49-F238E27FC236}">
                <a16:creationId xmlns:a16="http://schemas.microsoft.com/office/drawing/2014/main" id="{C67B59E4-1960-67CC-36D0-0C745A051091}"/>
              </a:ext>
            </a:extLst>
          </p:cNvPr>
          <p:cNvSpPr/>
          <p:nvPr/>
        </p:nvSpPr>
        <p:spPr>
          <a:xfrm>
            <a:off x="6588469" y="5002965"/>
            <a:ext cx="259361" cy="1623711"/>
          </a:xfrm>
          <a:prstGeom prst="rightBrace">
            <a:avLst>
              <a:gd name="adj1" fmla="val 20502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Left Brace 38">
            <a:extLst>
              <a:ext uri="{FF2B5EF4-FFF2-40B4-BE49-F238E27FC236}">
                <a16:creationId xmlns:a16="http://schemas.microsoft.com/office/drawing/2014/main" id="{D6399CA8-1D63-CF74-7B8F-60E20C5CA28C}"/>
              </a:ext>
            </a:extLst>
          </p:cNvPr>
          <p:cNvSpPr/>
          <p:nvPr/>
        </p:nvSpPr>
        <p:spPr>
          <a:xfrm>
            <a:off x="5229573" y="5030703"/>
            <a:ext cx="241066" cy="1550253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A54DA84-980F-3B25-35F9-7DD323CEBB92}"/>
              </a:ext>
            </a:extLst>
          </p:cNvPr>
          <p:cNvSpPr txBox="1"/>
          <p:nvPr/>
        </p:nvSpPr>
        <p:spPr>
          <a:xfrm>
            <a:off x="5475851" y="5142471"/>
            <a:ext cx="137197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Timestamp, id, type,</a:t>
            </a:r>
          </a:p>
          <a:p>
            <a:r>
              <a:rPr lang="en-IN" sz="1600" dirty="0" err="1"/>
              <a:t>x,y,z</a:t>
            </a:r>
            <a:r>
              <a:rPr lang="en-IN" sz="1600" dirty="0"/>
              <a:t>,</a:t>
            </a:r>
          </a:p>
          <a:p>
            <a:r>
              <a:rPr lang="en-IN" sz="1600" dirty="0"/>
              <a:t>Confidence, </a:t>
            </a:r>
          </a:p>
          <a:p>
            <a:r>
              <a:rPr lang="en-IN" sz="1600" dirty="0" err="1"/>
              <a:t>Yammnet</a:t>
            </a:r>
            <a:r>
              <a:rPr lang="en-IN" sz="1600" dirty="0"/>
              <a:t> data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188E492-8878-EF22-C08C-440C602A01BC}"/>
              </a:ext>
            </a:extLst>
          </p:cNvPr>
          <p:cNvSpPr/>
          <p:nvPr/>
        </p:nvSpPr>
        <p:spPr>
          <a:xfrm>
            <a:off x="1569720" y="3276600"/>
            <a:ext cx="2852129" cy="335007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/>
              <a:t>Front End:</a:t>
            </a:r>
            <a:endParaRPr lang="en-IN" sz="2400" dirty="0"/>
          </a:p>
          <a:p>
            <a:pPr algn="ctr"/>
            <a:r>
              <a:rPr lang="en-IN" sz="2400" dirty="0"/>
              <a:t>1.Viszualizer</a:t>
            </a:r>
          </a:p>
          <a:p>
            <a:pPr algn="ctr"/>
            <a:r>
              <a:rPr lang="en-IN" sz="2400" dirty="0" err="1"/>
              <a:t>a.Live</a:t>
            </a:r>
            <a:endParaRPr lang="en-IN" sz="2400" dirty="0"/>
          </a:p>
          <a:p>
            <a:pPr algn="ctr"/>
            <a:r>
              <a:rPr lang="en-IN" sz="2400" dirty="0" err="1"/>
              <a:t>b.File</a:t>
            </a:r>
            <a:endParaRPr lang="en-IN" sz="2400" dirty="0"/>
          </a:p>
          <a:p>
            <a:pPr algn="ctr"/>
            <a:r>
              <a:rPr lang="en-IN" sz="2400" dirty="0"/>
              <a:t>2.Settings</a:t>
            </a:r>
          </a:p>
          <a:p>
            <a:pPr algn="ctr"/>
            <a:r>
              <a:rPr lang="en-IN" sz="2400" dirty="0"/>
              <a:t>3.Simulator Reports</a:t>
            </a:r>
          </a:p>
        </p:txBody>
      </p:sp>
    </p:spTree>
    <p:extLst>
      <p:ext uri="{BB962C8B-B14F-4D97-AF65-F5344CB8AC3E}">
        <p14:creationId xmlns:p14="http://schemas.microsoft.com/office/powerpoint/2010/main" val="38294712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56FD7-3FAB-3AD5-1383-498B159A0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5AEDED42-CD85-BD3F-0CE9-64FC597AC6E7}"/>
              </a:ext>
            </a:extLst>
          </p:cNvPr>
          <p:cNvSpPr txBox="1"/>
          <p:nvPr/>
        </p:nvSpPr>
        <p:spPr>
          <a:xfrm>
            <a:off x="137574" y="168436"/>
            <a:ext cx="59584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0070C0"/>
                </a:solidFill>
              </a:rPr>
              <a:t>Overview of HW and SW…</a:t>
            </a:r>
          </a:p>
        </p:txBody>
      </p:sp>
      <p:pic>
        <p:nvPicPr>
          <p:cNvPr id="4" name="Picture 3" descr="A diagram of a computer network&#10;&#10;AI-generated content may be incorrect.">
            <a:extLst>
              <a:ext uri="{FF2B5EF4-FFF2-40B4-BE49-F238E27FC236}">
                <a16:creationId xmlns:a16="http://schemas.microsoft.com/office/drawing/2014/main" id="{ADFBA012-5862-B796-DD7E-BF7EA70665B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1370" t="19686" r="41154" b="46963"/>
          <a:stretch>
            <a:fillRect/>
          </a:stretch>
        </p:blipFill>
        <p:spPr>
          <a:xfrm rot="16200000">
            <a:off x="7385878" y="2005359"/>
            <a:ext cx="4125850" cy="524255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1BDD7D0-F7F1-F30C-DFEE-7DEC12CA9CE3}"/>
              </a:ext>
            </a:extLst>
          </p:cNvPr>
          <p:cNvSpPr/>
          <p:nvPr/>
        </p:nvSpPr>
        <p:spPr>
          <a:xfrm>
            <a:off x="7335548" y="4543871"/>
            <a:ext cx="1617782" cy="54779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ODAS</a:t>
            </a:r>
          </a:p>
        </p:txBody>
      </p:sp>
      <p:pic>
        <p:nvPicPr>
          <p:cNvPr id="7" name="Picture 6" descr="A diagram of a computer network&#10;&#10;AI-generated content may be incorrect.">
            <a:extLst>
              <a:ext uri="{FF2B5EF4-FFF2-40B4-BE49-F238E27FC236}">
                <a16:creationId xmlns:a16="http://schemas.microsoft.com/office/drawing/2014/main" id="{FB20E8B2-6945-3542-23DE-AFAF073A68F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33" t="11694" r="65944" b="62469"/>
          <a:stretch>
            <a:fillRect/>
          </a:stretch>
        </p:blipFill>
        <p:spPr>
          <a:xfrm rot="5400000">
            <a:off x="7310889" y="617529"/>
            <a:ext cx="2092235" cy="237434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A13E597-2DC1-FF13-83BA-6587A7159758}"/>
              </a:ext>
            </a:extLst>
          </p:cNvPr>
          <p:cNvSpPr/>
          <p:nvPr/>
        </p:nvSpPr>
        <p:spPr>
          <a:xfrm>
            <a:off x="7335548" y="3491952"/>
            <a:ext cx="1617782" cy="54779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Pulse Audio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869BD2C-03EA-44B6-4F5A-7A8431D90AFB}"/>
              </a:ext>
            </a:extLst>
          </p:cNvPr>
          <p:cNvCxnSpPr>
            <a:cxnSpLocks/>
          </p:cNvCxnSpPr>
          <p:nvPr/>
        </p:nvCxnSpPr>
        <p:spPr>
          <a:xfrm>
            <a:off x="7653412" y="4039744"/>
            <a:ext cx="0" cy="410336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C365BFA9-BC00-309E-9036-511F1E11572A}"/>
              </a:ext>
            </a:extLst>
          </p:cNvPr>
          <p:cNvSpPr txBox="1"/>
          <p:nvPr/>
        </p:nvSpPr>
        <p:spPr>
          <a:xfrm>
            <a:off x="7766158" y="4133535"/>
            <a:ext cx="2374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pcm : “multi_capture)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9959CFC-D793-5CB9-420A-2890B6DFD0D2}"/>
              </a:ext>
            </a:extLst>
          </p:cNvPr>
          <p:cNvCxnSpPr>
            <a:cxnSpLocks/>
          </p:cNvCxnSpPr>
          <p:nvPr/>
        </p:nvCxnSpPr>
        <p:spPr>
          <a:xfrm flipH="1">
            <a:off x="9015045" y="4744446"/>
            <a:ext cx="1125457" cy="0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17E41186-04E4-3476-8BB4-A98688D4C504}"/>
              </a:ext>
            </a:extLst>
          </p:cNvPr>
          <p:cNvSpPr txBox="1"/>
          <p:nvPr/>
        </p:nvSpPr>
        <p:spPr>
          <a:xfrm>
            <a:off x="10253247" y="4502867"/>
            <a:ext cx="565892" cy="3693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file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4CE95D8-2E11-0283-12D9-B5E6788695CF}"/>
              </a:ext>
            </a:extLst>
          </p:cNvPr>
          <p:cNvCxnSpPr>
            <a:cxnSpLocks/>
          </p:cNvCxnSpPr>
          <p:nvPr/>
        </p:nvCxnSpPr>
        <p:spPr>
          <a:xfrm flipH="1">
            <a:off x="9015045" y="5091663"/>
            <a:ext cx="1125457" cy="0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545FD2EF-86BC-AE1A-5CAA-660E645C56A2}"/>
              </a:ext>
            </a:extLst>
          </p:cNvPr>
          <p:cNvSpPr txBox="1"/>
          <p:nvPr/>
        </p:nvSpPr>
        <p:spPr>
          <a:xfrm>
            <a:off x="10253246" y="4906999"/>
            <a:ext cx="1009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socket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FF3FFD3-A56A-9E26-501D-B75D1D307159}"/>
              </a:ext>
            </a:extLst>
          </p:cNvPr>
          <p:cNvSpPr/>
          <p:nvPr/>
        </p:nvSpPr>
        <p:spPr>
          <a:xfrm>
            <a:off x="7335548" y="5551625"/>
            <a:ext cx="1617782" cy="54779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 err="1">
                <a:solidFill>
                  <a:schemeClr val="tx1"/>
                </a:solidFill>
              </a:rPr>
              <a:t>Yamnet</a:t>
            </a:r>
            <a:endParaRPr lang="en-IN" b="1" dirty="0">
              <a:solidFill>
                <a:schemeClr val="tx1"/>
              </a:solidFill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43767D4-930F-6BC2-0C5C-F22E89361653}"/>
              </a:ext>
            </a:extLst>
          </p:cNvPr>
          <p:cNvCxnSpPr/>
          <p:nvPr/>
        </p:nvCxnSpPr>
        <p:spPr>
          <a:xfrm>
            <a:off x="7622932" y="5091663"/>
            <a:ext cx="0" cy="592125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A3E9333-5C1E-1CED-F8A8-5AA93D0A3026}"/>
              </a:ext>
            </a:extLst>
          </p:cNvPr>
          <p:cNvCxnSpPr>
            <a:cxnSpLocks/>
          </p:cNvCxnSpPr>
          <p:nvPr/>
        </p:nvCxnSpPr>
        <p:spPr>
          <a:xfrm flipV="1">
            <a:off x="8693454" y="4936050"/>
            <a:ext cx="0" cy="570352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F90968D-F6B5-70DF-DC3D-B86F0E087D14}"/>
              </a:ext>
            </a:extLst>
          </p:cNvPr>
          <p:cNvCxnSpPr>
            <a:cxnSpLocks/>
          </p:cNvCxnSpPr>
          <p:nvPr/>
        </p:nvCxnSpPr>
        <p:spPr>
          <a:xfrm flipH="1" flipV="1">
            <a:off x="4632960" y="4872194"/>
            <a:ext cx="2702588" cy="9131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96E64DA1-07D4-ABCC-419F-286CCC0DC5F8}"/>
              </a:ext>
            </a:extLst>
          </p:cNvPr>
          <p:cNvSpPr txBox="1"/>
          <p:nvPr/>
        </p:nvSpPr>
        <p:spPr>
          <a:xfrm>
            <a:off x="5972101" y="4375114"/>
            <a:ext cx="1009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socket</a:t>
            </a:r>
          </a:p>
        </p:txBody>
      </p:sp>
      <p:sp>
        <p:nvSpPr>
          <p:cNvPr id="37" name="Right Brace 36">
            <a:extLst>
              <a:ext uri="{FF2B5EF4-FFF2-40B4-BE49-F238E27FC236}">
                <a16:creationId xmlns:a16="http://schemas.microsoft.com/office/drawing/2014/main" id="{436384BB-D73C-47CF-A4F9-FD7FC49A788E}"/>
              </a:ext>
            </a:extLst>
          </p:cNvPr>
          <p:cNvSpPr/>
          <p:nvPr/>
        </p:nvSpPr>
        <p:spPr>
          <a:xfrm>
            <a:off x="6588469" y="5002965"/>
            <a:ext cx="259361" cy="1623711"/>
          </a:xfrm>
          <a:prstGeom prst="rightBrace">
            <a:avLst>
              <a:gd name="adj1" fmla="val 20502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Left Brace 38">
            <a:extLst>
              <a:ext uri="{FF2B5EF4-FFF2-40B4-BE49-F238E27FC236}">
                <a16:creationId xmlns:a16="http://schemas.microsoft.com/office/drawing/2014/main" id="{58A16425-5E62-D5C1-6BB1-C27BE91C8D74}"/>
              </a:ext>
            </a:extLst>
          </p:cNvPr>
          <p:cNvSpPr/>
          <p:nvPr/>
        </p:nvSpPr>
        <p:spPr>
          <a:xfrm>
            <a:off x="5229573" y="5030703"/>
            <a:ext cx="241066" cy="1550253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5BBE1C3-51CD-1CB1-C00C-7E10CE268F5C}"/>
              </a:ext>
            </a:extLst>
          </p:cNvPr>
          <p:cNvSpPr txBox="1"/>
          <p:nvPr/>
        </p:nvSpPr>
        <p:spPr>
          <a:xfrm>
            <a:off x="5475851" y="5142471"/>
            <a:ext cx="137197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Timestamp, id, type,</a:t>
            </a:r>
          </a:p>
          <a:p>
            <a:r>
              <a:rPr lang="en-IN" sz="1600" dirty="0" err="1"/>
              <a:t>x,y,z</a:t>
            </a:r>
            <a:r>
              <a:rPr lang="en-IN" sz="1600" dirty="0"/>
              <a:t>,</a:t>
            </a:r>
          </a:p>
          <a:p>
            <a:r>
              <a:rPr lang="en-IN" sz="1600" dirty="0"/>
              <a:t>Confidence, </a:t>
            </a:r>
          </a:p>
          <a:p>
            <a:r>
              <a:rPr lang="en-IN" sz="1600" dirty="0" err="1"/>
              <a:t>Yammnet</a:t>
            </a:r>
            <a:r>
              <a:rPr lang="en-IN" sz="1600" dirty="0"/>
              <a:t> data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62DC940-49B2-E7F4-4317-CBC25C475F51}"/>
              </a:ext>
            </a:extLst>
          </p:cNvPr>
          <p:cNvSpPr/>
          <p:nvPr/>
        </p:nvSpPr>
        <p:spPr>
          <a:xfrm>
            <a:off x="1569720" y="3276600"/>
            <a:ext cx="2852129" cy="335007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/>
              <a:t>Front End:</a:t>
            </a:r>
            <a:endParaRPr lang="en-IN" sz="2400" dirty="0"/>
          </a:p>
          <a:p>
            <a:pPr algn="ctr"/>
            <a:r>
              <a:rPr lang="en-IN" sz="2400" dirty="0"/>
              <a:t>1.Viszualizer</a:t>
            </a:r>
          </a:p>
          <a:p>
            <a:pPr algn="ctr"/>
            <a:r>
              <a:rPr lang="en-IN" sz="2400" dirty="0" err="1"/>
              <a:t>a.Live</a:t>
            </a:r>
            <a:endParaRPr lang="en-IN" sz="2400" dirty="0"/>
          </a:p>
          <a:p>
            <a:pPr algn="ctr"/>
            <a:r>
              <a:rPr lang="en-IN" sz="2400" dirty="0" err="1"/>
              <a:t>b.File</a:t>
            </a:r>
            <a:endParaRPr lang="en-IN" sz="2400" dirty="0"/>
          </a:p>
          <a:p>
            <a:pPr algn="ctr"/>
            <a:r>
              <a:rPr lang="en-IN" sz="2400" dirty="0"/>
              <a:t>2.Settings</a:t>
            </a:r>
          </a:p>
          <a:p>
            <a:pPr algn="ctr"/>
            <a:r>
              <a:rPr lang="en-IN" sz="2400" dirty="0"/>
              <a:t>3.Simulator for Reports</a:t>
            </a:r>
          </a:p>
        </p:txBody>
      </p:sp>
    </p:spTree>
    <p:extLst>
      <p:ext uri="{BB962C8B-B14F-4D97-AF65-F5344CB8AC3E}">
        <p14:creationId xmlns:p14="http://schemas.microsoft.com/office/powerpoint/2010/main" val="10128539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284</Words>
  <Application>Microsoft Office PowerPoint</Application>
  <PresentationFormat>Widescreen</PresentationFormat>
  <Paragraphs>66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Makesh Chandrasekaran</dc:creator>
  <cp:lastModifiedBy>Makesh Chandrasekaran</cp:lastModifiedBy>
  <cp:revision>1</cp:revision>
  <dcterms:created xsi:type="dcterms:W3CDTF">2026-07-10T05:01:19Z</dcterms:created>
  <dcterms:modified xsi:type="dcterms:W3CDTF">2026-07-10T05:01:40Z</dcterms:modified>
</cp:coreProperties>
</file>